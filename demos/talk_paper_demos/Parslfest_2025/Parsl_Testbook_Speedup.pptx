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 am with QMCSoftware which is a group originating from IIT but includes people in industry. This in joint work with Dr. Sou-Chenge Choi of IIT and SouLab and the QMCPy development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Joshua Herman, a Python-focused software engineer with 15+ years of experience. I contribute QA to QMCpy by fixing notebooks, making tests faster, track regressions, bugs and increasing coverage for— I’ve spoken on software security, IoT devices, and LLM tooling at events including DEF CON/Skytalks and PyOhio, and I also contribute to CPython.  (cellular automata QMCPy)
Hi, my name is Joshua herman and I have worked on mainly QA tasks with QMCPy especially with Notebooks to track regressions and bugs. I have also given talks on software security and IoT Devices and LLM tooling. I have fourteen year of experience in software engineering in Python. Other open source projects i have contributed to are CPython. I help out with an organization called QMCSoftware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breaking down the tests into seperate testbook files we then load each test into a Parsl test harness and after double checking that our testbook checks pass we then compared the runtime of the serial test and the parallel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unit test example from testbook. What we are testing is cell 1 of the notebook where we are importing two packages in the first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this works is that the notebook is interpreted by testbook . SHorten description don't go through everything only talk about imports delete testbook, pytest, numpy are in the juypter notebook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were able to get a +216% speedup when run in parallel using Parsl on a 16 core machine by taking our testbook tests and writing a Parsl test runner. Making sure test runner gives us a tangible speedup.
Today, we are discussing the performance gains achieved with our new approach.
By running all twenty notebooks in parallel on a multicore machine, we achieved a significant speed increase of 2.16x.
The parallel testbook execution time was recorded at 781.21 seconds.
This represents a remarkable 216% speedup on Ubuntu with 16 cores on x86-64 architecture.
In contrast, the sequential testbook execution time was much longer at 1689.76 seconds.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implement full testing using testbook using parsl for a local machine and expanding them with more of our tests it would be interesting to run QMCpy tests remotely which would also most likely allow us to run QMCpy in a large distributed manner.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qmcpy.org" TargetMode="External"/><Relationship Id="rId2" Type="http://schemas.openxmlformats.org/officeDocument/2006/relationships/hyperlink" Target="https://testbook.readthedocs.io/en/latest/
https://github.com/nteract/testbook"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61D"/>
        </a:solidFill>
      </p:bgPr>
    </p:bg>
    <p:spTree>
      <p:nvGrpSpPr>
        <p:cNvPr id="1" name=""/>
        <p:cNvGrpSpPr/>
        <p:nvPr/>
      </p:nvGrpSpPr>
      <p:grpSpPr>
        <a:xfrm>
          <a:off x="0" y="0"/>
          <a:ext cx="0" cy="0"/>
          <a:chOff x="0" y="0"/>
          <a:chExt cx="0" cy="0"/>
        </a:xfrm>
      </p:grpSpPr>
      <p:sp>
        <p:nvSpPr>
          <p:cNvPr id="3" name="Shape 0"/>
          <p:cNvSpPr/>
          <p:nvPr/>
        </p:nvSpPr>
        <p:spPr>
          <a:xfrm>
            <a:off x="476250" y="759619"/>
            <a:ext cx="6205538" cy="3629025"/>
          </a:xfrm>
          <a:prstGeom prst="rect">
            <a:avLst/>
          </a:prstGeom>
          <a:noFill/>
          <a:ln/>
        </p:spPr>
      </p:sp>
      <p:pic>
        <p:nvPicPr>
          <p:cNvPr id="4" name="Image 0" descr="preencoded.png">    </p:cNvPr>
          <p:cNvPicPr>
            <a:picLocks noChangeAspect="1"/>
          </p:cNvPicPr>
          <p:nvPr/>
        </p:nvPicPr>
        <p:blipFill>
          <a:blip r:embed="rId1"/>
          <a:stretch>
            <a:fillRect/>
          </a:stretch>
        </p:blipFill>
        <p:spPr>
          <a:xfrm>
            <a:off x="476250" y="4391025"/>
            <a:ext cx="5295824" cy="659687"/>
          </a:xfrm>
          <a:prstGeom prst="rect">
            <a:avLst/>
          </a:prstGeom>
        </p:spPr>
      </p:pic>
      <p:sp>
        <p:nvSpPr>
          <p:cNvPr id="5" name="Text 1"/>
          <p:cNvSpPr/>
          <p:nvPr/>
        </p:nvSpPr>
        <p:spPr>
          <a:xfrm>
            <a:off x="476250" y="381000"/>
            <a:ext cx="1519238" cy="171450"/>
          </a:xfrm>
          <a:prstGeom prst="rect">
            <a:avLst/>
          </a:prstGeom>
          <a:noFill/>
          <a:ln/>
        </p:spPr>
        <p:txBody>
          <a:bodyPr wrap="square" rtlCol="0" anchor="ctr"/>
          <a:lstStyle/>
          <a:p>
            <a:pPr algn="l" indent="0" marL="0">
              <a:lnSpc>
                <a:spcPts val="1365"/>
              </a:lnSpc>
              <a:buNone/>
            </a:pPr>
            <a:r>
              <a:rPr lang="en-US" sz="1050" dirty="0">
                <a:solidFill>
                  <a:srgbClr val="F8F8FF">
                    <a:alpha val="99000"/>
                  </a:srgbClr>
                </a:solidFill>
                <a:latin typeface="IBM Plex Sans" pitchFamily="34" charset="0"/>
                <a:ea typeface="IBM Plex Sans" pitchFamily="34" charset="-122"/>
                <a:cs typeface="IBM Plex Sans" pitchFamily="34" charset="-120"/>
              </a:rPr>
              <a:t>PARSLFEST 2025</a:t>
            </a:r>
            <a:endParaRPr lang="en-US" sz="1050" dirty="0"/>
          </a:p>
        </p:txBody>
      </p:sp>
      <p:sp>
        <p:nvSpPr>
          <p:cNvPr id="6" name="Text 2"/>
          <p:cNvSpPr/>
          <p:nvPr/>
        </p:nvSpPr>
        <p:spPr>
          <a:xfrm>
            <a:off x="476250" y="759619"/>
            <a:ext cx="6662738" cy="2400300"/>
          </a:xfrm>
          <a:prstGeom prst="rect">
            <a:avLst/>
          </a:prstGeom>
          <a:noFill/>
          <a:ln/>
        </p:spPr>
        <p:txBody>
          <a:bodyPr wrap="square" rtlCol="0" anchor="ctr"/>
          <a:lstStyle/>
          <a:p>
            <a:pPr algn="l" indent="0" marL="0">
              <a:lnSpc>
                <a:spcPts val="6300"/>
              </a:lnSpc>
              <a:buNone/>
            </a:pPr>
            <a:r>
              <a:rPr lang="en-US" sz="5250" dirty="0">
                <a:solidFill>
                  <a:srgbClr val="F8F8FF">
                    <a:alpha val="99000"/>
                  </a:srgbClr>
                </a:solidFill>
                <a:latin typeface="IBM Plex Sans" pitchFamily="34" charset="0"/>
                <a:ea typeface="IBM Plex Sans" pitchFamily="34" charset="-122"/>
                <a:cs typeface="IBM Plex Sans" pitchFamily="34" charset="-120"/>
              </a:rPr>
              <a:t>Accelerating </a:t>
            </a:r>
            <a:pPr algn="l" indent="0" marL="0">
              <a:lnSpc>
                <a:spcPts val="6300"/>
              </a:lnSpc>
              <a:buNone/>
            </a:pPr>
            <a:r>
              <a:rPr lang="en-US" sz="5250" b="1" dirty="0">
                <a:solidFill>
                  <a:srgbClr val="F8F8FF">
                    <a:alpha val="99000"/>
                  </a:srgbClr>
                </a:solidFill>
                <a:latin typeface="IBM Plex Sans" pitchFamily="34" charset="0"/>
                <a:ea typeface="IBM Plex Sans" pitchFamily="34" charset="-122"/>
                <a:cs typeface="IBM Plex Sans" pitchFamily="34" charset="-120"/>
              </a:rPr>
              <a:t>QMCpy</a:t>
            </a:r>
            <a:pPr algn="l" indent="0" marL="0">
              <a:lnSpc>
                <a:spcPts val="6300"/>
              </a:lnSpc>
              <a:buNone/>
            </a:pPr>
            <a:r>
              <a:rPr lang="en-US" sz="5250" dirty="0">
                <a:solidFill>
                  <a:srgbClr val="F8F8FF">
                    <a:alpha val="99000"/>
                  </a:srgbClr>
                </a:solidFill>
                <a:latin typeface="IBM Plex Sans" pitchFamily="34" charset="0"/>
                <a:ea typeface="IBM Plex Sans" pitchFamily="34" charset="-122"/>
                <a:cs typeface="IBM Plex Sans" pitchFamily="34" charset="-120"/>
              </a:rPr>
              <a:t> Notebook Tests with </a:t>
            </a:r>
            <a:pPr algn="l" indent="0" marL="0">
              <a:lnSpc>
                <a:spcPts val="6300"/>
              </a:lnSpc>
              <a:buNone/>
            </a:pPr>
            <a:r>
              <a:rPr lang="en-US" sz="5250" b="1" dirty="0">
                <a:solidFill>
                  <a:srgbClr val="F8F8FF">
                    <a:alpha val="99000"/>
                  </a:srgbClr>
                </a:solidFill>
                <a:latin typeface="IBM Plex Sans" pitchFamily="34" charset="0"/>
                <a:ea typeface="IBM Plex Sans" pitchFamily="34" charset="-122"/>
                <a:cs typeface="IBM Plex Sans" pitchFamily="34" charset="-120"/>
              </a:rPr>
              <a:t>Parsl</a:t>
            </a:r>
            <a:endParaRPr lang="en-US" sz="5250" dirty="0"/>
          </a:p>
        </p:txBody>
      </p:sp>
      <p:sp>
        <p:nvSpPr>
          <p:cNvPr id="7" name="Text 3"/>
          <p:cNvSpPr/>
          <p:nvPr/>
        </p:nvSpPr>
        <p:spPr>
          <a:xfrm>
            <a:off x="476250" y="3217069"/>
            <a:ext cx="6662738" cy="1171575"/>
          </a:xfrm>
          <a:prstGeom prst="rect">
            <a:avLst/>
          </a:prstGeom>
          <a:noFill/>
          <a:ln/>
        </p:spPr>
        <p:txBody>
          <a:bodyPr wrap="square" rtlCol="0" anchor="ctr"/>
          <a:lstStyle/>
          <a:p>
            <a:pPr algn="l" indent="0" marL="0">
              <a:lnSpc>
                <a:spcPts val="3120"/>
              </a:lnSpc>
              <a:buNone/>
            </a:pPr>
            <a:r>
              <a:rPr lang="en-US" sz="2400" spc="-53" kern="0" dirty="0">
                <a:solidFill>
                  <a:srgbClr val="D2D2FF">
                    <a:alpha val="99000"/>
                  </a:srgbClr>
                </a:solidFill>
                <a:latin typeface="IBM Plex Sans" pitchFamily="34" charset="0"/>
                <a:ea typeface="IBM Plex Sans" pitchFamily="34" charset="-122"/>
                <a:cs typeface="IBM Plex Sans" pitchFamily="34" charset="-120"/>
              </a:rPr>
              <a:t>By Joshua Herman (QMC Development Team)</a:t>
            </a:r>
            <a:endParaRPr lang="en-US" sz="2400" dirty="0"/>
          </a:p>
          <a:p>
            <a:pPr algn="l" indent="0" marL="0">
              <a:lnSpc>
                <a:spcPts val="2880"/>
              </a:lnSpc>
              <a:buNone/>
            </a:pPr>
            <a:r>
              <a:rPr lang="en-US" sz="1800" spc="-18" kern="0" dirty="0">
                <a:solidFill>
                  <a:srgbClr val="D2D2FF">
                    <a:alpha val="99000"/>
                  </a:srgbClr>
                </a:solidFill>
                <a:latin typeface="IBM Plex Sans" pitchFamily="34" charset="0"/>
                <a:ea typeface="IBM Plex Sans" pitchFamily="34" charset="-122"/>
                <a:cs typeface="IBM Plex Sans" pitchFamily="34" charset="-120"/>
              </a:rPr>
              <a:t>Joint Work: Dr. Sou-Cheng Choi, Illinois Tech and  SouLab;</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61D"/>
        </a:solidFill>
      </p:bgPr>
    </p:bg>
    <p:spTree>
      <p:nvGrpSpPr>
        <p:cNvPr id="1" name=""/>
        <p:cNvGrpSpPr/>
        <p:nvPr/>
      </p:nvGrpSpPr>
      <p:grpSpPr>
        <a:xfrm>
          <a:off x="0" y="0"/>
          <a:ext cx="0" cy="0"/>
          <a:chOff x="0" y="0"/>
          <a:chExt cx="0" cy="0"/>
        </a:xfrm>
      </p:grpSpPr>
      <p:sp>
        <p:nvSpPr>
          <p:cNvPr id="3" name="Shape 0"/>
          <p:cNvSpPr/>
          <p:nvPr/>
        </p:nvSpPr>
        <p:spPr>
          <a:xfrm>
            <a:off x="476250" y="1845469"/>
            <a:ext cx="3619500" cy="1452563"/>
          </a:xfrm>
          <a:prstGeom prst="rect">
            <a:avLst/>
          </a:prstGeom>
          <a:noFill/>
          <a:ln/>
        </p:spPr>
      </p:sp>
      <p:sp>
        <p:nvSpPr>
          <p:cNvPr id="4" name="Shape 1"/>
          <p:cNvSpPr/>
          <p:nvPr/>
        </p:nvSpPr>
        <p:spPr>
          <a:xfrm>
            <a:off x="4572000" y="9525"/>
            <a:ext cx="4572000" cy="2571750"/>
          </a:xfrm>
          <a:prstGeom prst="rect">
            <a:avLst/>
          </a:prstGeom>
          <a:solidFill>
            <a:srgbClr val="29293D"/>
          </a:solidFill>
          <a:ln/>
        </p:spPr>
      </p:sp>
      <p:sp>
        <p:nvSpPr>
          <p:cNvPr id="5" name="Shape 2"/>
          <p:cNvSpPr/>
          <p:nvPr/>
        </p:nvSpPr>
        <p:spPr>
          <a:xfrm rot="5400000">
            <a:off x="2000250" y="2571750"/>
            <a:ext cx="5143500" cy="0"/>
          </a:xfrm>
          <a:prstGeom prst="line">
            <a:avLst/>
          </a:prstGeom>
          <a:noFill/>
          <a:ln w="38100">
            <a:solidFill>
              <a:srgbClr val="D2D2FF">
                <a:alpha val="30000"/>
              </a:srgbClr>
            </a:solidFill>
            <a:prstDash val="dash"/>
          </a:ln>
        </p:spPr>
      </p:sp>
      <p:sp>
        <p:nvSpPr>
          <p:cNvPr id="6" name="Shape 3"/>
          <p:cNvSpPr/>
          <p:nvPr/>
        </p:nvSpPr>
        <p:spPr>
          <a:xfrm>
            <a:off x="4572000" y="2571750"/>
            <a:ext cx="4572000" cy="0"/>
          </a:xfrm>
          <a:prstGeom prst="line">
            <a:avLst/>
          </a:prstGeom>
          <a:noFill/>
          <a:ln w="38100">
            <a:solidFill>
              <a:srgbClr val="D2D2FF">
                <a:alpha val="30000"/>
              </a:srgbClr>
            </a:solidFill>
            <a:prstDash val="dash"/>
          </a:ln>
        </p:spPr>
      </p:sp>
      <p:pic>
        <p:nvPicPr>
          <p:cNvPr id="7" name="Image 0" descr="preencoded.png">    </p:cNvPr>
          <p:cNvPicPr>
            <a:picLocks noChangeAspect="1"/>
          </p:cNvPicPr>
          <p:nvPr/>
        </p:nvPicPr>
        <p:blipFill>
          <a:blip r:embed="rId1"/>
          <a:stretch>
            <a:fillRect/>
          </a:stretch>
        </p:blipFill>
        <p:spPr>
          <a:xfrm>
            <a:off x="4572000" y="0"/>
            <a:ext cx="4572000" cy="5153025"/>
          </a:xfrm>
          <a:prstGeom prst="rect">
            <a:avLst/>
          </a:prstGeom>
        </p:spPr>
      </p:pic>
      <p:sp>
        <p:nvSpPr>
          <p:cNvPr id="8" name="Text 4"/>
          <p:cNvSpPr/>
          <p:nvPr/>
        </p:nvSpPr>
        <p:spPr>
          <a:xfrm>
            <a:off x="476250" y="381000"/>
            <a:ext cx="3886200" cy="171450"/>
          </a:xfrm>
          <a:prstGeom prst="rect">
            <a:avLst/>
          </a:prstGeom>
          <a:noFill/>
          <a:ln/>
        </p:spPr>
        <p:txBody>
          <a:bodyPr wrap="square" rtlCol="0" anchor="ctr"/>
          <a:lstStyle/>
          <a:p>
            <a:pPr algn="l" indent="0" marL="0">
              <a:lnSpc>
                <a:spcPts val="1365"/>
              </a:lnSpc>
              <a:buNone/>
            </a:pPr>
            <a:r>
              <a:rPr lang="en-US" sz="1050" dirty="0">
                <a:solidFill>
                  <a:srgbClr val="F8F8FF">
                    <a:alpha val="99000"/>
                  </a:srgbClr>
                </a:solidFill>
                <a:latin typeface="IBM Plex Sans" pitchFamily="34" charset="0"/>
                <a:ea typeface="IBM Plex Sans" pitchFamily="34" charset="-122"/>
                <a:cs typeface="IBM Plex Sans" pitchFamily="34" charset="-120"/>
              </a:rPr>
              <a:t>WHO WE ARE</a:t>
            </a:r>
            <a:endParaRPr lang="en-US" sz="1050" dirty="0"/>
          </a:p>
        </p:txBody>
      </p:sp>
      <p:sp>
        <p:nvSpPr>
          <p:cNvPr id="9" name="Text 5"/>
          <p:cNvSpPr/>
          <p:nvPr/>
        </p:nvSpPr>
        <p:spPr>
          <a:xfrm>
            <a:off x="476250" y="1845469"/>
            <a:ext cx="4076700" cy="395288"/>
          </a:xfrm>
          <a:prstGeom prst="rect">
            <a:avLst/>
          </a:prstGeom>
          <a:noFill/>
          <a:ln/>
        </p:spPr>
        <p:txBody>
          <a:bodyPr wrap="square" rtlCol="0" anchor="ctr"/>
          <a:lstStyle/>
          <a:p>
            <a:pPr algn="l" indent="0" marL="0">
              <a:lnSpc>
                <a:spcPts val="3120"/>
              </a:lnSpc>
              <a:buNone/>
            </a:pPr>
            <a:r>
              <a:rPr lang="en-US" sz="2400" spc="-53" kern="0" dirty="0">
                <a:solidFill>
                  <a:srgbClr val="FFFFFF">
                    <a:alpha val="99000"/>
                  </a:srgbClr>
                </a:solidFill>
                <a:latin typeface="IBM Plex Sans" pitchFamily="34" charset="0"/>
                <a:ea typeface="IBM Plex Sans" pitchFamily="34" charset="-122"/>
                <a:cs typeface="IBM Plex Sans" pitchFamily="34" charset="-120"/>
              </a:rPr>
              <a:t>Hello!</a:t>
            </a:r>
            <a:endParaRPr lang="en-US" sz="2400" dirty="0"/>
          </a:p>
        </p:txBody>
      </p:sp>
      <p:sp>
        <p:nvSpPr>
          <p:cNvPr id="10" name="Text 6"/>
          <p:cNvSpPr/>
          <p:nvPr/>
        </p:nvSpPr>
        <p:spPr>
          <a:xfrm>
            <a:off x="476250" y="2383631"/>
            <a:ext cx="4076700" cy="914400"/>
          </a:xfrm>
          <a:prstGeom prst="rect">
            <a:avLst/>
          </a:prstGeom>
          <a:noFill/>
          <a:ln/>
        </p:spPr>
        <p:txBody>
          <a:bodyPr wrap="square" rtlCol="0" anchor="ctr"/>
          <a:lstStyle/>
          <a:p>
            <a:pPr algn="l" marL="342900" indent="-342900">
              <a:lnSpc>
                <a:spcPts val="1800"/>
              </a:lnSpc>
              <a:buSzPct val="100000"/>
              <a:buChar char="•"/>
            </a:pPr>
            <a:r>
              <a:rPr lang="en-US" sz="1200" dirty="0">
                <a:solidFill>
                  <a:srgbClr val="FFFFFF">
                    <a:alpha val="99000"/>
                  </a:srgbClr>
                </a:solidFill>
                <a:latin typeface="IBM Plex Sans" pitchFamily="34" charset="0"/>
                <a:ea typeface="IBM Plex Sans" pitchFamily="34" charset="-122"/>
                <a:cs typeface="IBM Plex Sans" pitchFamily="34" charset="-120"/>
              </a:rPr>
              <a:t>15+ years of experience as a software engineer</a:t>
            </a:r>
            <a:endParaRPr lang="en-US" sz="1200" dirty="0"/>
          </a:p>
          <a:p>
            <a:pPr algn="l" marL="342900" indent="-342900">
              <a:lnSpc>
                <a:spcPts val="1800"/>
              </a:lnSpc>
              <a:buSzPct val="100000"/>
              <a:buChar char="•"/>
            </a:pPr>
            <a:r>
              <a:rPr lang="en-US" sz="1200" dirty="0">
                <a:solidFill>
                  <a:srgbClr val="FFFFFF">
                    <a:alpha val="99000"/>
                  </a:srgbClr>
                </a:solidFill>
                <a:latin typeface="IBM Plex Sans" pitchFamily="34" charset="0"/>
                <a:ea typeface="IBM Plex Sans" pitchFamily="34" charset="-122"/>
                <a:cs typeface="IBM Plex Sans" pitchFamily="34" charset="-120"/>
              </a:rPr>
              <a:t>Open source contributor to Python</a:t>
            </a:r>
            <a:endParaRPr lang="en-US" sz="1200" dirty="0"/>
          </a:p>
          <a:p>
            <a:pPr algn="l" marL="342900" indent="-342900">
              <a:lnSpc>
                <a:spcPts val="1800"/>
              </a:lnSpc>
              <a:buSzPct val="100000"/>
              <a:buChar char="•"/>
            </a:pPr>
            <a:r>
              <a:rPr lang="en-US" sz="1200" dirty="0">
                <a:solidFill>
                  <a:srgbClr val="FFFFFF">
                    <a:alpha val="99000"/>
                  </a:srgbClr>
                </a:solidFill>
                <a:latin typeface="IBM Plex Sans" pitchFamily="34" charset="0"/>
                <a:ea typeface="IBM Plex Sans" pitchFamily="34" charset="-122"/>
                <a:cs typeface="IBM Plex Sans" pitchFamily="34" charset="-120"/>
              </a:rPr>
              <a:t>Conference speaker: DEF CON, Skytalks, PyOhio</a:t>
            </a:r>
            <a:endParaRPr lang="en-US" sz="1200" dirty="0"/>
          </a:p>
          <a:p>
            <a:pPr algn="l" marL="342900" indent="-342900">
              <a:lnSpc>
                <a:spcPts val="1800"/>
              </a:lnSpc>
              <a:buSzPct val="100000"/>
              <a:buChar char="•"/>
            </a:pPr>
            <a:r>
              <a:rPr lang="en-US" sz="1200" dirty="0">
                <a:solidFill>
                  <a:srgbClr val="FFFFFF">
                    <a:alpha val="99000"/>
                  </a:srgbClr>
                </a:solidFill>
                <a:latin typeface="IBM Plex Sans" pitchFamily="34" charset="0"/>
                <a:ea typeface="IBM Plex Sans" pitchFamily="34" charset="-122"/>
                <a:cs typeface="IBM Plex Sans" pitchFamily="34" charset="-120"/>
              </a:rPr>
              <a:t>Recreational applied mathematics: QMCpy, CA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61D"/>
        </a:solidFill>
      </p:bgPr>
    </p:bg>
    <p:spTree>
      <p:nvGrpSpPr>
        <p:cNvPr id="1" name=""/>
        <p:cNvGrpSpPr/>
        <p:nvPr/>
      </p:nvGrpSpPr>
      <p:grpSpPr>
        <a:xfrm>
          <a:off x="0" y="0"/>
          <a:ext cx="0" cy="0"/>
          <a:chOff x="0" y="0"/>
          <a:chExt cx="0" cy="0"/>
        </a:xfrm>
      </p:grpSpPr>
      <p:sp>
        <p:nvSpPr>
          <p:cNvPr id="2" name="Text 0"/>
          <p:cNvSpPr/>
          <p:nvPr/>
        </p:nvSpPr>
        <p:spPr>
          <a:xfrm>
            <a:off x="476250" y="381000"/>
            <a:ext cx="1338262" cy="171450"/>
          </a:xfrm>
          <a:prstGeom prst="rect">
            <a:avLst/>
          </a:prstGeom>
          <a:noFill/>
          <a:ln/>
        </p:spPr>
        <p:txBody>
          <a:bodyPr wrap="square" rtlCol="0" anchor="ctr"/>
          <a:lstStyle/>
          <a:p>
            <a:pPr algn="l" indent="0" marL="0">
              <a:lnSpc>
                <a:spcPts val="1365"/>
              </a:lnSpc>
              <a:buNone/>
            </a:pPr>
            <a:r>
              <a:rPr lang="en-US" sz="1050" dirty="0">
                <a:solidFill>
                  <a:srgbClr val="FFFFFF">
                    <a:alpha val="99000"/>
                  </a:srgbClr>
                </a:solidFill>
                <a:latin typeface="IBM Plex Sans" pitchFamily="34" charset="0"/>
                <a:ea typeface="IBM Plex Sans" pitchFamily="34" charset="-122"/>
                <a:cs typeface="IBM Plex Sans" pitchFamily="34" charset="-120"/>
              </a:rPr>
              <a:t>26 JUNE 2024</a:t>
            </a:r>
            <a:endParaRPr lang="en-US" sz="1050" dirty="0"/>
          </a:p>
        </p:txBody>
      </p:sp>
      <p:sp>
        <p:nvSpPr>
          <p:cNvPr id="3" name="Text 1"/>
          <p:cNvSpPr/>
          <p:nvPr/>
        </p:nvSpPr>
        <p:spPr>
          <a:xfrm>
            <a:off x="1471613" y="1981200"/>
            <a:ext cx="6662738" cy="1185863"/>
          </a:xfrm>
          <a:prstGeom prst="rect">
            <a:avLst/>
          </a:prstGeom>
          <a:noFill/>
          <a:ln/>
        </p:spPr>
        <p:txBody>
          <a:bodyPr wrap="square" rtlCol="0" anchor="ctr"/>
          <a:lstStyle/>
          <a:p>
            <a:pPr algn="ctr" indent="0" marL="0">
              <a:lnSpc>
                <a:spcPts val="3120"/>
              </a:lnSpc>
              <a:buNone/>
            </a:pPr>
            <a:r>
              <a:rPr lang="en-US" sz="2400" spc="-53" kern="0" dirty="0">
                <a:solidFill>
                  <a:srgbClr val="D2D2FF">
                    <a:alpha val="99000"/>
                  </a:srgbClr>
                </a:solidFill>
                <a:latin typeface="IBM Plex Sans" pitchFamily="34" charset="0"/>
                <a:ea typeface="IBM Plex Sans" pitchFamily="34" charset="-122"/>
                <a:cs typeface="IBM Plex Sans" pitchFamily="34" charset="-120"/>
              </a:rPr>
              <a:t>Our notebooks need to be reproducible and they are resource intensive.</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61D"/>
        </a:solidFill>
      </p:bgPr>
    </p:bg>
    <p:spTree>
      <p:nvGrpSpPr>
        <p:cNvPr id="1" name=""/>
        <p:cNvGrpSpPr/>
        <p:nvPr/>
      </p:nvGrpSpPr>
      <p:grpSpPr>
        <a:xfrm>
          <a:off x="0" y="0"/>
          <a:ext cx="0" cy="0"/>
          <a:chOff x="0" y="0"/>
          <a:chExt cx="0" cy="0"/>
        </a:xfrm>
      </p:grpSpPr>
      <p:sp>
        <p:nvSpPr>
          <p:cNvPr id="3" name="Shape 0"/>
          <p:cNvSpPr/>
          <p:nvPr/>
        </p:nvSpPr>
        <p:spPr>
          <a:xfrm>
            <a:off x="5048250" y="1876425"/>
            <a:ext cx="4019550" cy="1390650"/>
          </a:xfrm>
          <a:prstGeom prst="rect">
            <a:avLst/>
          </a:prstGeom>
          <a:noFill/>
          <a:ln/>
        </p:spPr>
      </p:sp>
      <p:sp>
        <p:nvSpPr>
          <p:cNvPr id="4" name="Shape 1"/>
          <p:cNvSpPr/>
          <p:nvPr/>
        </p:nvSpPr>
        <p:spPr>
          <a:xfrm>
            <a:off x="476250" y="1978819"/>
            <a:ext cx="3619500" cy="1185863"/>
          </a:xfrm>
          <a:prstGeom prst="rect">
            <a:avLst/>
          </a:prstGeom>
          <a:noFill/>
          <a:ln/>
        </p:spPr>
      </p:sp>
      <p:sp>
        <p:nvSpPr>
          <p:cNvPr id="5" name="Shape 2"/>
          <p:cNvSpPr/>
          <p:nvPr/>
        </p:nvSpPr>
        <p:spPr>
          <a:xfrm rot="5400000">
            <a:off x="2000250" y="2571750"/>
            <a:ext cx="5143500" cy="0"/>
          </a:xfrm>
          <a:prstGeom prst="line">
            <a:avLst/>
          </a:prstGeom>
          <a:noFill/>
          <a:ln w="38100">
            <a:solidFill>
              <a:srgbClr val="D2D2FF">
                <a:alpha val="30000"/>
              </a:srgbClr>
            </a:solidFill>
            <a:prstDash val="solid"/>
          </a:ln>
        </p:spPr>
      </p:sp>
      <p:sp>
        <p:nvSpPr>
          <p:cNvPr id="6" name="Shape 3"/>
          <p:cNvSpPr/>
          <p:nvPr/>
        </p:nvSpPr>
        <p:spPr>
          <a:xfrm>
            <a:off x="5048250" y="1876425"/>
            <a:ext cx="4019550" cy="504825"/>
          </a:xfrm>
          <a:prstGeom prst="rect">
            <a:avLst/>
          </a:prstGeom>
          <a:noFill/>
          <a:ln/>
        </p:spPr>
      </p:sp>
      <p:sp>
        <p:nvSpPr>
          <p:cNvPr id="7" name="Shape 4"/>
          <p:cNvSpPr/>
          <p:nvPr/>
        </p:nvSpPr>
        <p:spPr>
          <a:xfrm>
            <a:off x="5048250" y="2571750"/>
            <a:ext cx="3390900" cy="252413"/>
          </a:xfrm>
          <a:prstGeom prst="rect">
            <a:avLst/>
          </a:prstGeom>
          <a:noFill/>
          <a:ln/>
        </p:spPr>
      </p:sp>
      <p:sp>
        <p:nvSpPr>
          <p:cNvPr id="8" name="Shape 5"/>
          <p:cNvSpPr/>
          <p:nvPr/>
        </p:nvSpPr>
        <p:spPr>
          <a:xfrm>
            <a:off x="5048250" y="3014663"/>
            <a:ext cx="4019550" cy="252413"/>
          </a:xfrm>
          <a:prstGeom prst="rect">
            <a:avLst/>
          </a:prstGeom>
          <a:noFill/>
          <a:ln/>
        </p:spPr>
      </p:sp>
      <p:sp>
        <p:nvSpPr>
          <p:cNvPr id="9" name="Shape 6"/>
          <p:cNvSpPr/>
          <p:nvPr/>
        </p:nvSpPr>
        <p:spPr>
          <a:xfrm>
            <a:off x="5048250" y="3040856"/>
            <a:ext cx="200025" cy="200025"/>
          </a:xfrm>
          <a:prstGeom prst="rect">
            <a:avLst/>
          </a:prstGeom>
          <a:noFill/>
          <a:ln/>
        </p:spPr>
      </p:sp>
      <p:sp>
        <p:nvSpPr>
          <p:cNvPr id="10" name="Shape 7"/>
          <p:cNvSpPr/>
          <p:nvPr/>
        </p:nvSpPr>
        <p:spPr>
          <a:xfrm>
            <a:off x="5048250" y="3040856"/>
            <a:ext cx="200025" cy="200025"/>
          </a:xfrm>
          <a:prstGeom prst="ellipse">
            <a:avLst/>
          </a:prstGeom>
          <a:noFill/>
          <a:ln w="25400">
            <a:solidFill>
              <a:srgbClr val="FFFFFF"/>
            </a:solidFill>
            <a:prstDash val="solid"/>
          </a:ln>
        </p:spPr>
      </p:sp>
      <p:sp>
        <p:nvSpPr>
          <p:cNvPr id="11" name="Shape 8"/>
          <p:cNvSpPr/>
          <p:nvPr/>
        </p:nvSpPr>
        <p:spPr>
          <a:xfrm>
            <a:off x="5048250" y="2597944"/>
            <a:ext cx="200025" cy="200025"/>
          </a:xfrm>
          <a:prstGeom prst="rect">
            <a:avLst/>
          </a:prstGeom>
          <a:noFill/>
          <a:ln/>
        </p:spPr>
      </p:sp>
      <p:sp>
        <p:nvSpPr>
          <p:cNvPr id="12" name="Shape 9"/>
          <p:cNvSpPr/>
          <p:nvPr/>
        </p:nvSpPr>
        <p:spPr>
          <a:xfrm>
            <a:off x="5048250" y="2597944"/>
            <a:ext cx="200025" cy="200025"/>
          </a:xfrm>
          <a:prstGeom prst="ellipse">
            <a:avLst/>
          </a:prstGeom>
          <a:noFill/>
          <a:ln w="25400">
            <a:solidFill>
              <a:srgbClr val="FFFFFF"/>
            </a:solidFill>
            <a:prstDash val="solid"/>
          </a:ln>
        </p:spPr>
      </p:sp>
      <p:sp>
        <p:nvSpPr>
          <p:cNvPr id="13" name="Shape 10"/>
          <p:cNvSpPr/>
          <p:nvPr/>
        </p:nvSpPr>
        <p:spPr>
          <a:xfrm>
            <a:off x="5048250" y="2028825"/>
            <a:ext cx="200025" cy="200025"/>
          </a:xfrm>
          <a:prstGeom prst="rect">
            <a:avLst/>
          </a:prstGeom>
          <a:noFill/>
          <a:ln/>
        </p:spPr>
      </p:sp>
      <p:sp>
        <p:nvSpPr>
          <p:cNvPr id="14" name="Shape 11"/>
          <p:cNvSpPr/>
          <p:nvPr/>
        </p:nvSpPr>
        <p:spPr>
          <a:xfrm>
            <a:off x="5048250" y="2028825"/>
            <a:ext cx="200025" cy="200025"/>
          </a:xfrm>
          <a:prstGeom prst="ellipse">
            <a:avLst/>
          </a:prstGeom>
          <a:noFill/>
          <a:ln w="25400">
            <a:solidFill>
              <a:srgbClr val="FFFFFF"/>
            </a:solidFill>
            <a:prstDash val="solid"/>
          </a:ln>
        </p:spPr>
      </p:sp>
      <p:sp>
        <p:nvSpPr>
          <p:cNvPr id="15" name="Text 12"/>
          <p:cNvSpPr/>
          <p:nvPr/>
        </p:nvSpPr>
        <p:spPr>
          <a:xfrm>
            <a:off x="476250" y="381000"/>
            <a:ext cx="3886200" cy="171450"/>
          </a:xfrm>
          <a:prstGeom prst="rect">
            <a:avLst/>
          </a:prstGeom>
          <a:noFill/>
          <a:ln/>
        </p:spPr>
        <p:txBody>
          <a:bodyPr wrap="square" rtlCol="0" anchor="ctr"/>
          <a:lstStyle/>
          <a:p>
            <a:pPr algn="l" indent="0" marL="0">
              <a:lnSpc>
                <a:spcPts val="1365"/>
              </a:lnSpc>
              <a:buNone/>
            </a:pPr>
            <a:r>
              <a:rPr lang="en-US" sz="1050" dirty="0">
                <a:solidFill>
                  <a:srgbClr val="F8F8FF">
                    <a:alpha val="99000"/>
                  </a:srgbClr>
                </a:solidFill>
                <a:latin typeface="IBM Plex Sans" pitchFamily="34" charset="0"/>
                <a:ea typeface="IBM Plex Sans" pitchFamily="34" charset="-122"/>
                <a:cs typeface="IBM Plex Sans" pitchFamily="34" charset="-120"/>
              </a:rPr>
              <a:t>HOW WE ARE DOING THIS</a:t>
            </a:r>
            <a:endParaRPr lang="en-US" sz="1050" dirty="0"/>
          </a:p>
        </p:txBody>
      </p:sp>
      <p:sp>
        <p:nvSpPr>
          <p:cNvPr id="16" name="Text 13"/>
          <p:cNvSpPr/>
          <p:nvPr/>
        </p:nvSpPr>
        <p:spPr>
          <a:xfrm>
            <a:off x="476250" y="1978819"/>
            <a:ext cx="4076700" cy="1185863"/>
          </a:xfrm>
          <a:prstGeom prst="rect">
            <a:avLst/>
          </a:prstGeom>
          <a:noFill/>
          <a:ln/>
        </p:spPr>
        <p:txBody>
          <a:bodyPr wrap="square" rtlCol="0" anchor="ctr"/>
          <a:lstStyle/>
          <a:p>
            <a:pPr algn="l" indent="0" marL="0">
              <a:lnSpc>
                <a:spcPts val="3120"/>
              </a:lnSpc>
              <a:buNone/>
            </a:pPr>
            <a:r>
              <a:rPr lang="en-US" sz="2400" spc="-53" kern="0" dirty="0">
                <a:solidFill>
                  <a:srgbClr val="FFFFFF">
                    <a:alpha val="99000"/>
                  </a:srgbClr>
                </a:solidFill>
                <a:latin typeface="IBM Plex Sans" pitchFamily="34" charset="0"/>
                <a:ea typeface="IBM Plex Sans" pitchFamily="34" charset="-122"/>
                <a:cs typeface="IBM Plex Sans" pitchFamily="34" charset="-120"/>
              </a:rPr>
              <a:t>How we are using Parsl to speed up Testbook Execution</a:t>
            </a:r>
            <a:endParaRPr lang="en-US" sz="2400" dirty="0"/>
          </a:p>
        </p:txBody>
      </p:sp>
      <p:sp>
        <p:nvSpPr>
          <p:cNvPr id="17" name="Text 14"/>
          <p:cNvSpPr/>
          <p:nvPr/>
        </p:nvSpPr>
        <p:spPr>
          <a:xfrm>
            <a:off x="5391150" y="3014663"/>
            <a:ext cx="4133850" cy="252413"/>
          </a:xfrm>
          <a:prstGeom prst="rect">
            <a:avLst/>
          </a:prstGeom>
          <a:noFill/>
          <a:ln/>
        </p:spPr>
        <p:txBody>
          <a:bodyPr wrap="square" rtlCol="0" anchor="ctr"/>
          <a:lstStyle/>
          <a:p>
            <a:pPr algn="l" indent="0" marL="0">
              <a:lnSpc>
                <a:spcPts val="1969"/>
              </a:lnSpc>
              <a:buNone/>
            </a:pPr>
            <a:r>
              <a:rPr lang="en-US" sz="1575" dirty="0">
                <a:solidFill>
                  <a:srgbClr val="FFFFFF">
                    <a:alpha val="99000"/>
                  </a:srgbClr>
                </a:solidFill>
                <a:latin typeface="IBM Plex Sans" pitchFamily="34" charset="0"/>
                <a:ea typeface="IBM Plex Sans" pitchFamily="34" charset="-122"/>
                <a:cs typeface="IBM Plex Sans" pitchFamily="34" charset="-120"/>
              </a:rPr>
              <a:t>Created simple tests to evaluate Parsl</a:t>
            </a:r>
            <a:endParaRPr lang="en-US" sz="1575" dirty="0"/>
          </a:p>
        </p:txBody>
      </p:sp>
      <p:sp>
        <p:nvSpPr>
          <p:cNvPr id="18" name="Text 15"/>
          <p:cNvSpPr/>
          <p:nvPr/>
        </p:nvSpPr>
        <p:spPr>
          <a:xfrm>
            <a:off x="5391150" y="2571750"/>
            <a:ext cx="3505200" cy="252413"/>
          </a:xfrm>
          <a:prstGeom prst="rect">
            <a:avLst/>
          </a:prstGeom>
          <a:noFill/>
          <a:ln/>
        </p:spPr>
        <p:txBody>
          <a:bodyPr wrap="square" rtlCol="0" anchor="ctr"/>
          <a:lstStyle/>
          <a:p>
            <a:pPr algn="l" indent="0" marL="0">
              <a:lnSpc>
                <a:spcPts val="1969"/>
              </a:lnSpc>
              <a:buNone/>
            </a:pPr>
            <a:r>
              <a:rPr lang="en-US" sz="1575" dirty="0">
                <a:solidFill>
                  <a:srgbClr val="FFFFFF">
                    <a:alpha val="99000"/>
                  </a:srgbClr>
                </a:solidFill>
                <a:latin typeface="IBM Plex Sans" pitchFamily="34" charset="0"/>
                <a:ea typeface="IBM Plex Sans" pitchFamily="34" charset="-122"/>
                <a:cs typeface="IBM Plex Sans" pitchFamily="34" charset="-120"/>
              </a:rPr>
              <a:t>Runs by using a Parsl test harness</a:t>
            </a:r>
            <a:endParaRPr lang="en-US" sz="1575" dirty="0"/>
          </a:p>
        </p:txBody>
      </p:sp>
      <p:sp>
        <p:nvSpPr>
          <p:cNvPr id="19" name="Text 16"/>
          <p:cNvSpPr/>
          <p:nvPr/>
        </p:nvSpPr>
        <p:spPr>
          <a:xfrm>
            <a:off x="5391150" y="1876425"/>
            <a:ext cx="4133850" cy="504825"/>
          </a:xfrm>
          <a:prstGeom prst="rect">
            <a:avLst/>
          </a:prstGeom>
          <a:noFill/>
          <a:ln/>
        </p:spPr>
        <p:txBody>
          <a:bodyPr wrap="square" rtlCol="0" anchor="ctr"/>
          <a:lstStyle/>
          <a:p>
            <a:pPr algn="l" indent="0" marL="0">
              <a:lnSpc>
                <a:spcPts val="1969"/>
              </a:lnSpc>
              <a:buNone/>
            </a:pPr>
            <a:r>
              <a:rPr lang="en-US" sz="1575" dirty="0">
                <a:solidFill>
                  <a:srgbClr val="FFFFFF">
                    <a:alpha val="99000"/>
                  </a:srgbClr>
                </a:solidFill>
                <a:latin typeface="IBM Plex Sans" pitchFamily="34" charset="0"/>
                <a:ea typeface="IBM Plex Sans" pitchFamily="34" charset="-122"/>
                <a:cs typeface="IBM Plex Sans" pitchFamily="34" charset="-120"/>
              </a:rPr>
              <a:t>Testing is done with a testbook file corresponding to a Juypter Notebook</a:t>
            </a:r>
            <a:endParaRPr lang="en-US" sz="15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61D"/>
        </a:solidFill>
      </p:bgPr>
    </p:bg>
    <p:spTree>
      <p:nvGrpSpPr>
        <p:cNvPr id="1" name=""/>
        <p:cNvGrpSpPr/>
        <p:nvPr/>
      </p:nvGrpSpPr>
      <p:grpSpPr>
        <a:xfrm>
          <a:off x="0" y="0"/>
          <a:ext cx="0" cy="0"/>
          <a:chOff x="0" y="0"/>
          <a:chExt cx="0" cy="0"/>
        </a:xfrm>
      </p:grpSpPr>
      <p:sp>
        <p:nvSpPr>
          <p:cNvPr id="3" name="Shape 0"/>
          <p:cNvSpPr/>
          <p:nvPr/>
        </p:nvSpPr>
        <p:spPr>
          <a:xfrm>
            <a:off x="476250" y="2374106"/>
            <a:ext cx="3619500" cy="395288"/>
          </a:xfrm>
          <a:prstGeom prst="rect">
            <a:avLst/>
          </a:prstGeom>
          <a:noFill/>
          <a:ln/>
        </p:spPr>
      </p:sp>
      <p:sp>
        <p:nvSpPr>
          <p:cNvPr id="4" name="Shape 1"/>
          <p:cNvSpPr/>
          <p:nvPr/>
        </p:nvSpPr>
        <p:spPr>
          <a:xfrm>
            <a:off x="4572000" y="-4762"/>
            <a:ext cx="4572000" cy="5143500"/>
          </a:xfrm>
          <a:prstGeom prst="rect">
            <a:avLst/>
          </a:prstGeom>
          <a:solidFill>
            <a:srgbClr val="29293D"/>
          </a:solidFill>
          <a:ln/>
        </p:spPr>
      </p:sp>
      <p:pic>
        <p:nvPicPr>
          <p:cNvPr id="5" name="Image 0" descr="preencoded.png">    </p:cNvPr>
          <p:cNvPicPr>
            <a:picLocks noChangeAspect="1"/>
          </p:cNvPicPr>
          <p:nvPr/>
        </p:nvPicPr>
        <p:blipFill>
          <a:blip r:embed="rId1"/>
          <a:stretch>
            <a:fillRect/>
          </a:stretch>
        </p:blipFill>
        <p:spPr>
          <a:xfrm>
            <a:off x="4762500" y="1095375"/>
            <a:ext cx="4186238" cy="2557463"/>
          </a:xfrm>
          <a:prstGeom prst="rect">
            <a:avLst/>
          </a:prstGeom>
        </p:spPr>
      </p:pic>
      <p:sp>
        <p:nvSpPr>
          <p:cNvPr id="6" name="Text 2"/>
          <p:cNvSpPr/>
          <p:nvPr/>
        </p:nvSpPr>
        <p:spPr>
          <a:xfrm>
            <a:off x="476250" y="381000"/>
            <a:ext cx="3886200" cy="171450"/>
          </a:xfrm>
          <a:prstGeom prst="rect">
            <a:avLst/>
          </a:prstGeom>
          <a:noFill/>
          <a:ln/>
        </p:spPr>
        <p:txBody>
          <a:bodyPr wrap="square" rtlCol="0" anchor="ctr"/>
          <a:lstStyle/>
          <a:p>
            <a:pPr algn="l" indent="0" marL="0">
              <a:lnSpc>
                <a:spcPts val="1365"/>
              </a:lnSpc>
              <a:buNone/>
            </a:pPr>
            <a:r>
              <a:rPr lang="en-US" sz="1050" dirty="0">
                <a:solidFill>
                  <a:srgbClr val="F8F8FF">
                    <a:alpha val="99000"/>
                  </a:srgbClr>
                </a:solidFill>
                <a:latin typeface="IBM Plex Sans" pitchFamily="34" charset="0"/>
                <a:ea typeface="IBM Plex Sans" pitchFamily="34" charset="-122"/>
                <a:cs typeface="IBM Plex Sans" pitchFamily="34" charset="-120"/>
              </a:rPr>
              <a:t>HOW WE ARE DOING THIS</a:t>
            </a:r>
            <a:endParaRPr lang="en-US" sz="1050" dirty="0"/>
          </a:p>
        </p:txBody>
      </p:sp>
      <p:sp>
        <p:nvSpPr>
          <p:cNvPr id="7" name="Text 3"/>
          <p:cNvSpPr/>
          <p:nvPr/>
        </p:nvSpPr>
        <p:spPr>
          <a:xfrm>
            <a:off x="476250" y="2374106"/>
            <a:ext cx="4076700" cy="395288"/>
          </a:xfrm>
          <a:prstGeom prst="rect">
            <a:avLst/>
          </a:prstGeom>
          <a:noFill/>
          <a:ln/>
        </p:spPr>
        <p:txBody>
          <a:bodyPr wrap="square" rtlCol="0" anchor="ctr"/>
          <a:lstStyle/>
          <a:p>
            <a:pPr algn="l" indent="0" marL="0">
              <a:lnSpc>
                <a:spcPts val="3120"/>
              </a:lnSpc>
              <a:buNone/>
            </a:pPr>
            <a:r>
              <a:rPr lang="en-US" sz="2400" spc="-53" kern="0" dirty="0">
                <a:solidFill>
                  <a:srgbClr val="FFFFFF">
                    <a:alpha val="99000"/>
                  </a:srgbClr>
                </a:solidFill>
                <a:latin typeface="IBM Plex Sans" pitchFamily="34" charset="0"/>
                <a:ea typeface="IBM Plex Sans" pitchFamily="34" charset="-122"/>
                <a:cs typeface="IBM Plex Sans" pitchFamily="34" charset="-120"/>
              </a:rPr>
              <a:t>Notebook Cell To Test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61D"/>
        </a:solidFill>
      </p:bgPr>
    </p:bg>
    <p:spTree>
      <p:nvGrpSpPr>
        <p:cNvPr id="1" name=""/>
        <p:cNvGrpSpPr/>
        <p:nvPr/>
      </p:nvGrpSpPr>
      <p:grpSpPr>
        <a:xfrm>
          <a:off x="0" y="0"/>
          <a:ext cx="0" cy="0"/>
          <a:chOff x="0" y="0"/>
          <a:chExt cx="0" cy="0"/>
        </a:xfrm>
      </p:grpSpPr>
      <p:sp>
        <p:nvSpPr>
          <p:cNvPr id="3" name="Shape 0"/>
          <p:cNvSpPr/>
          <p:nvPr/>
        </p:nvSpPr>
        <p:spPr>
          <a:xfrm>
            <a:off x="476250" y="2074069"/>
            <a:ext cx="3619500" cy="995363"/>
          </a:xfrm>
          <a:prstGeom prst="rect">
            <a:avLst/>
          </a:prstGeom>
          <a:noFill/>
          <a:ln/>
        </p:spPr>
      </p:sp>
      <p:sp>
        <p:nvSpPr>
          <p:cNvPr id="4" name="Shape 1"/>
          <p:cNvSpPr/>
          <p:nvPr/>
        </p:nvSpPr>
        <p:spPr>
          <a:xfrm>
            <a:off x="4572000" y="0"/>
            <a:ext cx="4572000" cy="2571750"/>
          </a:xfrm>
          <a:prstGeom prst="rect">
            <a:avLst/>
          </a:prstGeom>
          <a:solidFill>
            <a:srgbClr val="29293D"/>
          </a:solidFill>
          <a:ln/>
        </p:spPr>
      </p:sp>
      <p:sp>
        <p:nvSpPr>
          <p:cNvPr id="5" name="Shape 2"/>
          <p:cNvSpPr/>
          <p:nvPr/>
        </p:nvSpPr>
        <p:spPr>
          <a:xfrm>
            <a:off x="4572000" y="2581275"/>
            <a:ext cx="4572000" cy="2571750"/>
          </a:xfrm>
          <a:prstGeom prst="rect">
            <a:avLst/>
          </a:prstGeom>
          <a:solidFill>
            <a:srgbClr val="29293D"/>
          </a:solidFill>
          <a:ln/>
        </p:spPr>
      </p:sp>
      <p:sp>
        <p:nvSpPr>
          <p:cNvPr id="6" name="Shape 3"/>
          <p:cNvSpPr/>
          <p:nvPr/>
        </p:nvSpPr>
        <p:spPr>
          <a:xfrm>
            <a:off x="4572000" y="2571750"/>
            <a:ext cx="4572000" cy="0"/>
          </a:xfrm>
          <a:prstGeom prst="line">
            <a:avLst/>
          </a:prstGeom>
          <a:noFill/>
          <a:ln w="38100">
            <a:solidFill>
              <a:srgbClr val="D2D2FF">
                <a:alpha val="30000"/>
              </a:srgbClr>
            </a:solidFill>
            <a:prstDash val="dash"/>
          </a:ln>
        </p:spPr>
      </p:sp>
      <p:pic>
        <p:nvPicPr>
          <p:cNvPr id="7" name="Image 0" descr="preencoded.png">    </p:cNvPr>
          <p:cNvPicPr>
            <a:picLocks noChangeAspect="1"/>
          </p:cNvPicPr>
          <p:nvPr/>
        </p:nvPicPr>
        <p:blipFill>
          <a:blip r:embed="rId1"/>
          <a:stretch>
            <a:fillRect/>
          </a:stretch>
        </p:blipFill>
        <p:spPr>
          <a:xfrm>
            <a:off x="4572000" y="1304925"/>
            <a:ext cx="4572000" cy="2533884"/>
          </a:xfrm>
          <a:prstGeom prst="rect">
            <a:avLst/>
          </a:prstGeom>
        </p:spPr>
      </p:pic>
      <p:sp>
        <p:nvSpPr>
          <p:cNvPr id="8" name="Text 4"/>
          <p:cNvSpPr/>
          <p:nvPr/>
        </p:nvSpPr>
        <p:spPr>
          <a:xfrm>
            <a:off x="476250" y="381000"/>
            <a:ext cx="3886200" cy="171450"/>
          </a:xfrm>
          <a:prstGeom prst="rect">
            <a:avLst/>
          </a:prstGeom>
          <a:noFill/>
          <a:ln/>
        </p:spPr>
        <p:txBody>
          <a:bodyPr wrap="square" rtlCol="0" anchor="ctr"/>
          <a:lstStyle/>
          <a:p>
            <a:pPr algn="l" indent="0" marL="0">
              <a:lnSpc>
                <a:spcPts val="1365"/>
              </a:lnSpc>
              <a:buNone/>
            </a:pPr>
            <a:r>
              <a:rPr lang="en-US" sz="1050" dirty="0">
                <a:solidFill>
                  <a:srgbClr val="F8F8FF">
                    <a:alpha val="99000"/>
                  </a:srgbClr>
                </a:solidFill>
                <a:latin typeface="IBM Plex Sans" pitchFamily="34" charset="0"/>
                <a:ea typeface="IBM Plex Sans" pitchFamily="34" charset="-122"/>
                <a:cs typeface="IBM Plex Sans" pitchFamily="34" charset="-120"/>
              </a:rPr>
              <a:t>HOW WE ARE DOING THIS</a:t>
            </a:r>
            <a:endParaRPr lang="en-US" sz="1050" dirty="0"/>
          </a:p>
        </p:txBody>
      </p:sp>
      <p:sp>
        <p:nvSpPr>
          <p:cNvPr id="9" name="Text 5"/>
          <p:cNvSpPr/>
          <p:nvPr/>
        </p:nvSpPr>
        <p:spPr>
          <a:xfrm>
            <a:off x="476250" y="2074069"/>
            <a:ext cx="4076700" cy="395288"/>
          </a:xfrm>
          <a:prstGeom prst="rect">
            <a:avLst/>
          </a:prstGeom>
          <a:noFill/>
          <a:ln/>
        </p:spPr>
        <p:txBody>
          <a:bodyPr wrap="square" rtlCol="0" anchor="ctr"/>
          <a:lstStyle/>
          <a:p>
            <a:pPr algn="l" indent="0" marL="0">
              <a:lnSpc>
                <a:spcPts val="3120"/>
              </a:lnSpc>
              <a:buNone/>
            </a:pPr>
            <a:r>
              <a:rPr lang="en-US" sz="2400" spc="-53" kern="0" dirty="0">
                <a:solidFill>
                  <a:srgbClr val="FFFFFF">
                    <a:alpha val="99000"/>
                  </a:srgbClr>
                </a:solidFill>
                <a:latin typeface="IBM Plex Sans" pitchFamily="34" charset="0"/>
                <a:ea typeface="IBM Plex Sans" pitchFamily="34" charset="-122"/>
                <a:cs typeface="IBM Plex Sans" pitchFamily="34" charset="-120"/>
              </a:rPr>
              <a:t>Testbook Example Test</a:t>
            </a:r>
            <a:endParaRPr lang="en-US" sz="2400" dirty="0"/>
          </a:p>
        </p:txBody>
      </p:sp>
      <p:sp>
        <p:nvSpPr>
          <p:cNvPr id="10" name="Text 6"/>
          <p:cNvSpPr/>
          <p:nvPr/>
        </p:nvSpPr>
        <p:spPr>
          <a:xfrm>
            <a:off x="476250" y="2612231"/>
            <a:ext cx="4076700" cy="457200"/>
          </a:xfrm>
          <a:prstGeom prst="rect">
            <a:avLst/>
          </a:prstGeom>
          <a:noFill/>
          <a:ln/>
        </p:spPr>
        <p:txBody>
          <a:bodyPr wrap="square" rtlCol="0" anchor="ctr"/>
          <a:lstStyle/>
          <a:p>
            <a:pPr algn="l" indent="0" marL="0">
              <a:lnSpc>
                <a:spcPts val="1800"/>
              </a:lnSpc>
              <a:buNone/>
            </a:pPr>
            <a:r>
              <a:rPr lang="en-US" sz="1200" dirty="0">
                <a:solidFill>
                  <a:srgbClr val="FFFFFF">
                    <a:alpha val="99000"/>
                  </a:srgbClr>
                </a:solidFill>
                <a:latin typeface="IBM Plex Sans" pitchFamily="34" charset="0"/>
                <a:ea typeface="IBM Plex Sans" pitchFamily="34" charset="-122"/>
                <a:cs typeface="IBM Plex Sans" pitchFamily="34" charset="-120"/>
              </a:rPr>
              <a:t>Here is the code that tests the cell we have in the previous notebook. </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61D"/>
        </a:solidFill>
      </p:bgPr>
    </p:bg>
    <p:spTree>
      <p:nvGrpSpPr>
        <p:cNvPr id="1" name=""/>
        <p:cNvGrpSpPr/>
        <p:nvPr/>
      </p:nvGrpSpPr>
      <p:grpSpPr>
        <a:xfrm>
          <a:off x="0" y="0"/>
          <a:ext cx="0" cy="0"/>
          <a:chOff x="0" y="0"/>
          <a:chExt cx="0" cy="0"/>
        </a:xfrm>
      </p:grpSpPr>
      <p:sp>
        <p:nvSpPr>
          <p:cNvPr id="3" name="Shape 0"/>
          <p:cNvSpPr/>
          <p:nvPr/>
        </p:nvSpPr>
        <p:spPr>
          <a:xfrm>
            <a:off x="476250" y="2176463"/>
            <a:ext cx="3619500" cy="790575"/>
          </a:xfrm>
          <a:prstGeom prst="rect">
            <a:avLst/>
          </a:prstGeom>
          <a:noFill/>
          <a:ln/>
        </p:spPr>
      </p:sp>
      <p:pic>
        <p:nvPicPr>
          <p:cNvPr id="4" name="Image 0" descr="preencoded.png">    </p:cNvPr>
          <p:cNvPicPr>
            <a:picLocks noChangeAspect="1"/>
          </p:cNvPicPr>
          <p:nvPr/>
        </p:nvPicPr>
        <p:blipFill>
          <a:blip r:embed="rId1"/>
          <a:stretch>
            <a:fillRect/>
          </a:stretch>
        </p:blipFill>
        <p:spPr>
          <a:xfrm>
            <a:off x="4781550" y="790575"/>
            <a:ext cx="4362450" cy="3400425"/>
          </a:xfrm>
          <a:prstGeom prst="rect">
            <a:avLst/>
          </a:prstGeom>
        </p:spPr>
      </p:pic>
      <p:sp>
        <p:nvSpPr>
          <p:cNvPr id="5" name="Text 1"/>
          <p:cNvSpPr/>
          <p:nvPr/>
        </p:nvSpPr>
        <p:spPr>
          <a:xfrm>
            <a:off x="476250" y="381000"/>
            <a:ext cx="3886200" cy="171450"/>
          </a:xfrm>
          <a:prstGeom prst="rect">
            <a:avLst/>
          </a:prstGeom>
          <a:noFill/>
          <a:ln/>
        </p:spPr>
        <p:txBody>
          <a:bodyPr wrap="square" rtlCol="0" anchor="ctr"/>
          <a:lstStyle/>
          <a:p>
            <a:pPr algn="l" indent="0" marL="0">
              <a:lnSpc>
                <a:spcPts val="1365"/>
              </a:lnSpc>
              <a:buNone/>
            </a:pPr>
            <a:r>
              <a:rPr lang="en-US" sz="1050" dirty="0">
                <a:solidFill>
                  <a:srgbClr val="F8F8FF">
                    <a:alpha val="99000"/>
                  </a:srgbClr>
                </a:solidFill>
                <a:latin typeface="IBM Plex Sans" pitchFamily="34" charset="0"/>
                <a:ea typeface="IBM Plex Sans" pitchFamily="34" charset="-122"/>
                <a:cs typeface="IBM Plex Sans" pitchFamily="34" charset="-120"/>
              </a:rPr>
              <a:t>PRELIMINARY RESULTS</a:t>
            </a:r>
            <a:endParaRPr lang="en-US" sz="1050" dirty="0"/>
          </a:p>
        </p:txBody>
      </p:sp>
      <p:sp>
        <p:nvSpPr>
          <p:cNvPr id="6" name="Text 2"/>
          <p:cNvSpPr/>
          <p:nvPr/>
        </p:nvSpPr>
        <p:spPr>
          <a:xfrm>
            <a:off x="476250" y="2176463"/>
            <a:ext cx="4076700" cy="790575"/>
          </a:xfrm>
          <a:prstGeom prst="rect">
            <a:avLst/>
          </a:prstGeom>
          <a:noFill/>
          <a:ln/>
        </p:spPr>
        <p:txBody>
          <a:bodyPr wrap="square" rtlCol="0" anchor="ctr"/>
          <a:lstStyle/>
          <a:p>
            <a:pPr algn="l" indent="0" marL="0">
              <a:lnSpc>
                <a:spcPts val="3120"/>
              </a:lnSpc>
              <a:buNone/>
            </a:pPr>
            <a:r>
              <a:rPr lang="en-US" sz="2400" spc="-53" kern="0" dirty="0">
                <a:solidFill>
                  <a:srgbClr val="FFFFFF">
                    <a:alpha val="99000"/>
                  </a:srgbClr>
                </a:solidFill>
                <a:latin typeface="IBM Plex Sans" pitchFamily="34" charset="0"/>
                <a:ea typeface="IBM Plex Sans" pitchFamily="34" charset="-122"/>
                <a:cs typeface="IBM Plex Sans" pitchFamily="34" charset="-120"/>
              </a:rPr>
              <a:t>Test stubs</a:t>
            </a:r>
            <a:endParaRPr lang="en-US" sz="2400" dirty="0"/>
          </a:p>
          <a:p>
            <a:pPr algn="l" indent="0" marL="0">
              <a:lnSpc>
                <a:spcPts val="3120"/>
              </a:lnSpc>
              <a:buNone/>
            </a:pPr>
            <a:r>
              <a:rPr lang="en-US" sz="2400" spc="-53" kern="0" dirty="0">
                <a:solidFill>
                  <a:srgbClr val="FFFFFF">
                    <a:alpha val="99000"/>
                  </a:srgbClr>
                </a:solidFill>
                <a:latin typeface="IBM Plex Sans" pitchFamily="34" charset="0"/>
                <a:ea typeface="IBM Plex Sans" pitchFamily="34" charset="-122"/>
                <a:cs typeface="IBM Plex Sans" pitchFamily="34" charset="-120"/>
              </a:rPr>
              <a:t>Speedup of +216%</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61D"/>
        </a:solidFill>
      </p:bgPr>
    </p:bg>
    <p:spTree>
      <p:nvGrpSpPr>
        <p:cNvPr id="1" name=""/>
        <p:cNvGrpSpPr/>
        <p:nvPr/>
      </p:nvGrpSpPr>
      <p:grpSpPr>
        <a:xfrm>
          <a:off x="0" y="0"/>
          <a:ext cx="0" cy="0"/>
          <a:chOff x="0" y="0"/>
          <a:chExt cx="0" cy="0"/>
        </a:xfrm>
      </p:grpSpPr>
      <p:sp>
        <p:nvSpPr>
          <p:cNvPr id="3" name="Shape 0"/>
          <p:cNvSpPr/>
          <p:nvPr/>
        </p:nvSpPr>
        <p:spPr>
          <a:xfrm>
            <a:off x="2109788" y="2002631"/>
            <a:ext cx="4829175" cy="1138238"/>
          </a:xfrm>
          <a:prstGeom prst="rect">
            <a:avLst/>
          </a:prstGeom>
          <a:noFill/>
          <a:ln/>
        </p:spPr>
      </p:sp>
      <p:sp>
        <p:nvSpPr>
          <p:cNvPr id="4" name="Shape 1"/>
          <p:cNvSpPr/>
          <p:nvPr/>
        </p:nvSpPr>
        <p:spPr>
          <a:xfrm>
            <a:off x="2109788" y="2002631"/>
            <a:ext cx="4829175" cy="252413"/>
          </a:xfrm>
          <a:prstGeom prst="rect">
            <a:avLst/>
          </a:prstGeom>
          <a:noFill/>
          <a:ln/>
        </p:spPr>
      </p:sp>
      <p:sp>
        <p:nvSpPr>
          <p:cNvPr id="5" name="Shape 2"/>
          <p:cNvSpPr/>
          <p:nvPr/>
        </p:nvSpPr>
        <p:spPr>
          <a:xfrm>
            <a:off x="2109788" y="2445544"/>
            <a:ext cx="3686175" cy="252413"/>
          </a:xfrm>
          <a:prstGeom prst="rect">
            <a:avLst/>
          </a:prstGeom>
          <a:noFill/>
          <a:ln/>
        </p:spPr>
      </p:sp>
      <p:sp>
        <p:nvSpPr>
          <p:cNvPr id="6" name="Shape 3"/>
          <p:cNvSpPr/>
          <p:nvPr/>
        </p:nvSpPr>
        <p:spPr>
          <a:xfrm>
            <a:off x="2109788" y="2888456"/>
            <a:ext cx="4014788" cy="252413"/>
          </a:xfrm>
          <a:prstGeom prst="rect">
            <a:avLst/>
          </a:prstGeom>
          <a:noFill/>
          <a:ln/>
        </p:spPr>
      </p:sp>
      <p:sp>
        <p:nvSpPr>
          <p:cNvPr id="7" name="Shape 4"/>
          <p:cNvSpPr/>
          <p:nvPr/>
        </p:nvSpPr>
        <p:spPr>
          <a:xfrm>
            <a:off x="2109788" y="2914650"/>
            <a:ext cx="200025" cy="200025"/>
          </a:xfrm>
          <a:prstGeom prst="rect">
            <a:avLst/>
          </a:prstGeom>
          <a:noFill/>
          <a:ln/>
        </p:spPr>
      </p:sp>
      <p:sp>
        <p:nvSpPr>
          <p:cNvPr id="8" name="Shape 5"/>
          <p:cNvSpPr/>
          <p:nvPr/>
        </p:nvSpPr>
        <p:spPr>
          <a:xfrm>
            <a:off x="2109788" y="2914650"/>
            <a:ext cx="200025" cy="200025"/>
          </a:xfrm>
          <a:prstGeom prst="ellipse">
            <a:avLst/>
          </a:prstGeom>
          <a:noFill/>
          <a:ln w="25400">
            <a:solidFill>
              <a:srgbClr val="FFFFFF"/>
            </a:solidFill>
            <a:prstDash val="solid"/>
          </a:ln>
        </p:spPr>
      </p:sp>
      <p:sp>
        <p:nvSpPr>
          <p:cNvPr id="9" name="Shape 6"/>
          <p:cNvSpPr/>
          <p:nvPr/>
        </p:nvSpPr>
        <p:spPr>
          <a:xfrm>
            <a:off x="2109788" y="2471738"/>
            <a:ext cx="200025" cy="200025"/>
          </a:xfrm>
          <a:prstGeom prst="rect">
            <a:avLst/>
          </a:prstGeom>
          <a:noFill/>
          <a:ln/>
        </p:spPr>
      </p:sp>
      <p:sp>
        <p:nvSpPr>
          <p:cNvPr id="10" name="Shape 7"/>
          <p:cNvSpPr/>
          <p:nvPr/>
        </p:nvSpPr>
        <p:spPr>
          <a:xfrm>
            <a:off x="2109788" y="2471738"/>
            <a:ext cx="200025" cy="200025"/>
          </a:xfrm>
          <a:prstGeom prst="ellipse">
            <a:avLst/>
          </a:prstGeom>
          <a:noFill/>
          <a:ln w="25400">
            <a:solidFill>
              <a:srgbClr val="FFFFFF"/>
            </a:solidFill>
            <a:prstDash val="solid"/>
          </a:ln>
        </p:spPr>
      </p:sp>
      <p:sp>
        <p:nvSpPr>
          <p:cNvPr id="11" name="Shape 8"/>
          <p:cNvSpPr/>
          <p:nvPr/>
        </p:nvSpPr>
        <p:spPr>
          <a:xfrm>
            <a:off x="2109788" y="2028825"/>
            <a:ext cx="200025" cy="200025"/>
          </a:xfrm>
          <a:prstGeom prst="rect">
            <a:avLst/>
          </a:prstGeom>
          <a:noFill/>
          <a:ln/>
        </p:spPr>
      </p:sp>
      <p:sp>
        <p:nvSpPr>
          <p:cNvPr id="12" name="Shape 9"/>
          <p:cNvSpPr/>
          <p:nvPr/>
        </p:nvSpPr>
        <p:spPr>
          <a:xfrm>
            <a:off x="2109788" y="2028825"/>
            <a:ext cx="200025" cy="200025"/>
          </a:xfrm>
          <a:prstGeom prst="ellipse">
            <a:avLst/>
          </a:prstGeom>
          <a:noFill/>
          <a:ln w="25400">
            <a:solidFill>
              <a:srgbClr val="FFFFFF"/>
            </a:solidFill>
            <a:prstDash val="solid"/>
          </a:ln>
        </p:spPr>
      </p:sp>
      <p:sp>
        <p:nvSpPr>
          <p:cNvPr id="13" name="Text 10"/>
          <p:cNvSpPr/>
          <p:nvPr/>
        </p:nvSpPr>
        <p:spPr>
          <a:xfrm>
            <a:off x="476250" y="381000"/>
            <a:ext cx="3886200" cy="171450"/>
          </a:xfrm>
          <a:prstGeom prst="rect">
            <a:avLst/>
          </a:prstGeom>
          <a:noFill/>
          <a:ln/>
        </p:spPr>
        <p:txBody>
          <a:bodyPr wrap="square" rtlCol="0" anchor="ctr"/>
          <a:lstStyle/>
          <a:p>
            <a:pPr algn="l" indent="0" marL="0">
              <a:lnSpc>
                <a:spcPts val="1365"/>
              </a:lnSpc>
              <a:buNone/>
            </a:pPr>
            <a:r>
              <a:rPr lang="en-US" sz="1050" dirty="0">
                <a:solidFill>
                  <a:srgbClr val="F8F8FF">
                    <a:alpha val="99000"/>
                  </a:srgbClr>
                </a:solidFill>
                <a:latin typeface="IBM Plex Sans" pitchFamily="34" charset="0"/>
                <a:ea typeface="IBM Plex Sans" pitchFamily="34" charset="-122"/>
                <a:cs typeface="IBM Plex Sans" pitchFamily="34" charset="-120"/>
              </a:rPr>
              <a:t>FUTURE WORK</a:t>
            </a:r>
            <a:endParaRPr lang="en-US" sz="1050" dirty="0"/>
          </a:p>
        </p:txBody>
      </p:sp>
      <p:sp>
        <p:nvSpPr>
          <p:cNvPr id="14" name="Text 11"/>
          <p:cNvSpPr/>
          <p:nvPr/>
        </p:nvSpPr>
        <p:spPr>
          <a:xfrm>
            <a:off x="2452688" y="2888456"/>
            <a:ext cx="4129088" cy="252413"/>
          </a:xfrm>
          <a:prstGeom prst="rect">
            <a:avLst/>
          </a:prstGeom>
          <a:noFill/>
          <a:ln/>
        </p:spPr>
        <p:txBody>
          <a:bodyPr wrap="square" rtlCol="0" anchor="ctr"/>
          <a:lstStyle/>
          <a:p>
            <a:pPr algn="l" indent="0" marL="0">
              <a:lnSpc>
                <a:spcPts val="1969"/>
              </a:lnSpc>
              <a:buNone/>
            </a:pPr>
            <a:r>
              <a:rPr lang="en-US" sz="1575" dirty="0">
                <a:solidFill>
                  <a:srgbClr val="FFFFFF">
                    <a:alpha val="99000"/>
                  </a:srgbClr>
                </a:solidFill>
                <a:latin typeface="IBM Plex Sans" pitchFamily="34" charset="0"/>
                <a:ea typeface="IBM Plex Sans" pitchFamily="34" charset="-122"/>
                <a:cs typeface="IBM Plex Sans" pitchFamily="34" charset="-120"/>
              </a:rPr>
              <a:t>Use Parsl to run tests of QMCpy remotely</a:t>
            </a:r>
            <a:endParaRPr lang="en-US" sz="1575" dirty="0"/>
          </a:p>
        </p:txBody>
      </p:sp>
      <p:sp>
        <p:nvSpPr>
          <p:cNvPr id="15" name="Text 12"/>
          <p:cNvSpPr/>
          <p:nvPr/>
        </p:nvSpPr>
        <p:spPr>
          <a:xfrm>
            <a:off x="2452688" y="2445544"/>
            <a:ext cx="3800475" cy="252413"/>
          </a:xfrm>
          <a:prstGeom prst="rect">
            <a:avLst/>
          </a:prstGeom>
          <a:noFill/>
          <a:ln/>
        </p:spPr>
        <p:txBody>
          <a:bodyPr wrap="square" rtlCol="0" anchor="ctr"/>
          <a:lstStyle/>
          <a:p>
            <a:pPr algn="l" indent="0" marL="0">
              <a:lnSpc>
                <a:spcPts val="1969"/>
              </a:lnSpc>
              <a:buNone/>
            </a:pPr>
            <a:r>
              <a:rPr lang="en-US" sz="1575" dirty="0">
                <a:solidFill>
                  <a:srgbClr val="FFFFFF">
                    <a:alpha val="99000"/>
                  </a:srgbClr>
                </a:solidFill>
                <a:latin typeface="IBM Plex Sans" pitchFamily="34" charset="0"/>
                <a:ea typeface="IBM Plex Sans" pitchFamily="34" charset="-122"/>
                <a:cs typeface="IBM Plex Sans" pitchFamily="34" charset="-120"/>
              </a:rPr>
              <a:t>Integrate parsl with more of our tests</a:t>
            </a:r>
            <a:endParaRPr lang="en-US" sz="1575" dirty="0"/>
          </a:p>
        </p:txBody>
      </p:sp>
      <p:sp>
        <p:nvSpPr>
          <p:cNvPr id="16" name="Text 13"/>
          <p:cNvSpPr/>
          <p:nvPr/>
        </p:nvSpPr>
        <p:spPr>
          <a:xfrm>
            <a:off x="2452688" y="2002631"/>
            <a:ext cx="4943475" cy="252413"/>
          </a:xfrm>
          <a:prstGeom prst="rect">
            <a:avLst/>
          </a:prstGeom>
          <a:noFill/>
          <a:ln/>
        </p:spPr>
        <p:txBody>
          <a:bodyPr wrap="square" rtlCol="0" anchor="ctr"/>
          <a:lstStyle/>
          <a:p>
            <a:pPr algn="l" indent="0" marL="0">
              <a:lnSpc>
                <a:spcPts val="1969"/>
              </a:lnSpc>
              <a:buNone/>
            </a:pPr>
            <a:r>
              <a:rPr lang="en-US" sz="1575" dirty="0">
                <a:solidFill>
                  <a:srgbClr val="FFFFFF">
                    <a:alpha val="99000"/>
                  </a:srgbClr>
                </a:solidFill>
                <a:latin typeface="IBM Plex Sans" pitchFamily="34" charset="0"/>
                <a:ea typeface="IBM Plex Sans" pitchFamily="34" charset="-122"/>
                <a:cs typeface="IBM Plex Sans" pitchFamily="34" charset="-120"/>
              </a:rPr>
              <a:t>Implement Testbook tests for all of our notebooks</a:t>
            </a:r>
            <a:endParaRPr lang="en-US" sz="15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61D"/>
        </a:solidFill>
      </p:bgPr>
    </p:bg>
    <p:spTree>
      <p:nvGrpSpPr>
        <p:cNvPr id="1" name=""/>
        <p:cNvGrpSpPr/>
        <p:nvPr/>
      </p:nvGrpSpPr>
      <p:grpSpPr>
        <a:xfrm>
          <a:off x="0" y="0"/>
          <a:ext cx="0" cy="0"/>
          <a:chOff x="0" y="0"/>
          <a:chExt cx="0" cy="0"/>
        </a:xfrm>
      </p:grpSpPr>
      <p:sp>
        <p:nvSpPr>
          <p:cNvPr id="2" name="Text 0"/>
          <p:cNvSpPr/>
          <p:nvPr/>
        </p:nvSpPr>
        <p:spPr>
          <a:xfrm>
            <a:off x="476250" y="381000"/>
            <a:ext cx="1338262" cy="171450"/>
          </a:xfrm>
          <a:prstGeom prst="rect">
            <a:avLst/>
          </a:prstGeom>
          <a:noFill/>
          <a:ln/>
        </p:spPr>
        <p:txBody>
          <a:bodyPr wrap="square" rtlCol="0" anchor="ctr"/>
          <a:lstStyle/>
          <a:p>
            <a:pPr algn="l" indent="0" marL="0">
              <a:lnSpc>
                <a:spcPts val="1365"/>
              </a:lnSpc>
              <a:buNone/>
            </a:pPr>
            <a:r>
              <a:rPr lang="en-US" sz="1050" dirty="0">
                <a:solidFill>
                  <a:srgbClr val="FFFFFF">
                    <a:alpha val="99000"/>
                  </a:srgbClr>
                </a:solidFill>
                <a:latin typeface="IBM Plex Sans" pitchFamily="34" charset="0"/>
                <a:ea typeface="IBM Plex Sans" pitchFamily="34" charset="-122"/>
                <a:cs typeface="IBM Plex Sans" pitchFamily="34" charset="-120"/>
              </a:rPr>
              <a:t>26 JUNE 2024</a:t>
            </a:r>
            <a:endParaRPr lang="en-US" sz="1050" dirty="0"/>
          </a:p>
        </p:txBody>
      </p:sp>
      <p:sp>
        <p:nvSpPr>
          <p:cNvPr id="3" name="Text 1"/>
          <p:cNvSpPr/>
          <p:nvPr/>
        </p:nvSpPr>
        <p:spPr>
          <a:xfrm>
            <a:off x="-19050" y="1023938"/>
            <a:ext cx="9639300" cy="3095625"/>
          </a:xfrm>
          <a:prstGeom prst="rect">
            <a:avLst/>
          </a:prstGeom>
          <a:noFill/>
          <a:ln/>
        </p:spPr>
        <p:txBody>
          <a:bodyPr wrap="square" rtlCol="0" anchor="ctr"/>
          <a:lstStyle/>
          <a:p>
            <a:pPr algn="ctr" indent="0" marL="0">
              <a:lnSpc>
                <a:spcPts val="4860"/>
              </a:lnSpc>
              <a:buNone/>
            </a:pPr>
            <a:r>
              <a:rPr lang="en-US" sz="4050" spc="-53" kern="0" dirty="0">
                <a:solidFill>
                  <a:srgbClr val="FFFFFF">
                    <a:alpha val="99000"/>
                  </a:srgbClr>
                </a:solidFill>
                <a:latin typeface="IBM Plex Sans" pitchFamily="34" charset="0"/>
                <a:ea typeface="IBM Plex Sans" pitchFamily="34" charset="-122"/>
                <a:cs typeface="IBM Plex Sans" pitchFamily="34" charset="-120"/>
              </a:rPr>
              <a:t>zitterbewegung@gmail.com</a:t>
            </a:r>
            <a:endParaRPr lang="en-US" sz="4050" dirty="0"/>
          </a:p>
          <a:p>
            <a:pPr algn="ctr" indent="0" marL="0">
              <a:lnSpc>
                <a:spcPts val="4860"/>
              </a:lnSpc>
              <a:buNone/>
            </a:pPr>
            <a:r>
              <a:rPr lang="en-US" sz="4050" u="sng" spc="-53" kern="0" dirty="0">
                <a:solidFill>
                  <a:srgbClr val="FFFFFF">
                    <a:alpha val="99000"/>
                  </a:srgbClr>
                </a:solidFill>
                <a:latin typeface="IBM Plex Sans" pitchFamily="34" charset="0"/>
                <a:ea typeface="IBM Plex Sans" pitchFamily="34" charset="-122"/>
                <a:cs typeface="IBM Plex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https://qmcpy.org</a:t>
            </a:r>
            <a:endParaRPr lang="en-US" sz="4050" dirty="0"/>
          </a:p>
          <a:p>
            <a:pPr algn="ctr" indent="0" marL="0">
              <a:lnSpc>
                <a:spcPts val="4860"/>
              </a:lnSpc>
              <a:buNone/>
            </a:pPr>
            <a:r>
              <a:rPr lang="en-US" sz="4050" u="sng" spc="-53" kern="0" dirty="0">
                <a:solidFill>
                  <a:srgbClr val="FFFFFF">
                    <a:alpha val="99000"/>
                  </a:srgbClr>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https://github.com/nteract/testbook</a:t>
            </a:r>
            <a:endParaRPr lang="en-US" sz="4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2025-10-17T18:40:36Z</dcterms:created>
  <dcterms:modified xsi:type="dcterms:W3CDTF">2025-10-17T18:40:36Z</dcterms:modified>
</cp:coreProperties>
</file>